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Titre. Présenter brièvement le problème: simuler des SVMs quantiques coûte O(N²) états de dimension 2^Q. L'objectif est de rendre ça viable sur GPU.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pipeline: PCA réduit les images à Q dimensions → encodage RYRZ → vecteur d'état → noyau de fidélité → SVM avec optimisation C via Optuna (3-fold CV).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backends: numpy = baseline CPU, torch = GPU haut niveau facile, cuda_states = GPU bas niveau avec RawKernel CuPy. La contribution principale est cuda_states.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Output-stationary: chaque thread calcule un seul C_{i,j}. Utilise double2 pour stocker les parties réelle/imaginaire. Pas de shared memory → simple mais efficace pour ce 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Bug subtil: les états étaient construits sur le stream PyTorch et consommés sur le stream CuPy. Résultat: blocs K corrompus, AUC → 0.5. Le fix: tout sur le même stream.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normalisation croisée stricte est la clé: chaque backend produit exactement le même noyau. Optimisation: calcul direct de la diagonale, évitant de former K(X,X) entière.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À Q=16, un vecteur d'état = 1 MB. Le CPU sature L1/L2 dès N=10k. Le GPU masque la complexité quadratique grâce au débit HBM. Gain bulk precompute: 1.85×.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Fashion simple suffit pour que le noyau quantique fonctionne. CIFAR/SVHN sont trop riches visuellement pour le feature map actuel.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'collapse' est conceptuellement similaire aux barren plateaus des VQC: les états deviennent presque indiscernables. L'accélération GPU résout le coût mais pas la représentativité.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Message clé: un backend CUDA custom n'est pas juste une optimisation, c'est un outil de contrôle mathématique fin. Le vrai prochain bottleneck est la conception du feature map quantique.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37160"/>
            <a:ext cx="0" cy="4846320"/>
          </a:xfrm>
          <a:prstGeom prst="line">
            <a:avLst/>
          </a:prstGeom>
          <a:noFill/>
          <a:ln w="6350">
            <a:solidFill>
              <a:srgbClr val="1E2D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0" y="137160"/>
            <a:ext cx="0" cy="4846320"/>
          </a:xfrm>
          <a:prstGeom prst="line">
            <a:avLst/>
          </a:prstGeom>
          <a:noFill/>
          <a:ln w="6350">
            <a:solidFill>
              <a:srgbClr val="1E2D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77440" y="137160"/>
            <a:ext cx="0" cy="4846320"/>
          </a:xfrm>
          <a:prstGeom prst="line">
            <a:avLst/>
          </a:prstGeom>
          <a:noFill/>
          <a:ln w="6350">
            <a:solidFill>
              <a:srgbClr val="1E2D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0" y="137160"/>
            <a:ext cx="0" cy="4846320"/>
          </a:xfrm>
          <a:prstGeom prst="line">
            <a:avLst/>
          </a:prstGeom>
          <a:noFill/>
          <a:ln w="6350">
            <a:solidFill>
              <a:srgbClr val="1E2D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137160"/>
            <a:ext cx="0" cy="4846320"/>
          </a:xfrm>
          <a:prstGeom prst="line">
            <a:avLst/>
          </a:prstGeom>
          <a:noFill/>
          <a:ln w="6350">
            <a:solidFill>
              <a:srgbClr val="1E2D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0" y="137160"/>
            <a:ext cx="0" cy="4846320"/>
          </a:xfrm>
          <a:prstGeom prst="line">
            <a:avLst/>
          </a:prstGeom>
          <a:noFill/>
          <a:ln w="6350">
            <a:solidFill>
              <a:srgbClr val="1E2D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0" y="137160"/>
            <a:ext cx="0" cy="4846320"/>
          </a:xfrm>
          <a:prstGeom prst="line">
            <a:avLst/>
          </a:prstGeom>
          <a:noFill/>
          <a:ln w="6350">
            <a:solidFill>
              <a:srgbClr val="1E2D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0" y="137160"/>
            <a:ext cx="0" cy="4846320"/>
          </a:xfrm>
          <a:prstGeom prst="line">
            <a:avLst/>
          </a:prstGeom>
          <a:noFill/>
          <a:ln w="6350">
            <a:solidFill>
              <a:srgbClr val="1E2D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" y="457200"/>
            <a:ext cx="8778240" cy="0"/>
          </a:xfrm>
          <a:prstGeom prst="line">
            <a:avLst/>
          </a:prstGeom>
          <a:noFill/>
          <a:ln w="6350">
            <a:solidFill>
              <a:srgbClr val="1E2D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" y="1234440"/>
            <a:ext cx="8778240" cy="0"/>
          </a:xfrm>
          <a:prstGeom prst="line">
            <a:avLst/>
          </a:prstGeom>
          <a:noFill/>
          <a:ln w="6350">
            <a:solidFill>
              <a:srgbClr val="1E2D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" y="2011680"/>
            <a:ext cx="8778240" cy="0"/>
          </a:xfrm>
          <a:prstGeom prst="line">
            <a:avLst/>
          </a:prstGeom>
          <a:noFill/>
          <a:ln w="6350">
            <a:solidFill>
              <a:srgbClr val="1E2D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" y="2788920"/>
            <a:ext cx="8778240" cy="0"/>
          </a:xfrm>
          <a:prstGeom prst="line">
            <a:avLst/>
          </a:prstGeom>
          <a:noFill/>
          <a:ln w="6350">
            <a:solidFill>
              <a:srgbClr val="1E2D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880" y="3566160"/>
            <a:ext cx="8778240" cy="0"/>
          </a:xfrm>
          <a:prstGeom prst="line">
            <a:avLst/>
          </a:prstGeom>
          <a:noFill/>
          <a:ln w="6350">
            <a:solidFill>
              <a:srgbClr val="1E2D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" y="4343400"/>
            <a:ext cx="8778240" cy="0"/>
          </a:xfrm>
          <a:prstGeom prst="line">
            <a:avLst/>
          </a:prstGeom>
          <a:noFill/>
          <a:ln w="6350">
            <a:solidFill>
              <a:srgbClr val="1E2D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73152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Acceleration of</a:t>
            </a:r>
            <a:endParaRPr lang="en-US" sz="3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Kernel Methods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48640" y="21488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NVIDIA CUDA Hardware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48640" y="26517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Binary Image Classification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0080" y="411480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141E35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1605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Dylan Fouepe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91840" y="411480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141E35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41605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di Firenze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0" y="411480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141E35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41605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Computing — 2025/26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188720" y="470916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A1035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88720" y="4709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60320" y="470916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A1035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0" y="4709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931920" y="470916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A1035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31920" y="4709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PennyLane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303520" y="470916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A1035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0" y="4709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675120" y="470916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A1035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0" y="4709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Pipeline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data → Quantum feature map → SVM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5240">
            <a:solidFill>
              <a:srgbClr val="1E2D5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5760" y="1051560"/>
            <a:ext cx="8412480" cy="1371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2606040"/>
            <a:ext cx="8412480" cy="1051560"/>
          </a:xfrm>
          <a:prstGeom prst="roundRect">
            <a:avLst>
              <a:gd name="adj" fmla="val 6957"/>
            </a:avLst>
          </a:prstGeom>
          <a:solidFill>
            <a:srgbClr val="141E35"/>
          </a:solidFill>
          <a:ln w="12700">
            <a:solidFill>
              <a:srgbClr val="1E2D5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26700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Fidelity Kernel: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29718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k(xᵢ, xⱼ)  =  |〈ψ(xᵢ) | ψ(xⱼ)〉|²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48640" y="33649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Kᵢⱼ  =  |Σₖ SA[i,k] · S̄B[j,k]|²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303520" y="2624328"/>
            <a:ext cx="3383280" cy="301752"/>
          </a:xfrm>
          <a:prstGeom prst="roundRect">
            <a:avLst>
              <a:gd name="adj" fmla="val 24242"/>
            </a:avLst>
          </a:prstGeom>
          <a:solidFill>
            <a:srgbClr val="141E35"/>
          </a:solidFill>
          <a:ln w="12700">
            <a:solidFill>
              <a:srgbClr val="00FF8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349240" y="2624328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Fashion-MNIST — 0/1/3/6/8 pairs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303520" y="2971800"/>
            <a:ext cx="3383280" cy="301752"/>
          </a:xfrm>
          <a:prstGeom prst="roundRect">
            <a:avLst>
              <a:gd name="adj" fmla="val 24242"/>
            </a:avLst>
          </a:prstGeom>
          <a:solidFill>
            <a:srgbClr val="141E35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349240" y="2971800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CIFAR-10 — 1/0/3 vs 6/2/5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303520" y="3319272"/>
            <a:ext cx="3383280" cy="301752"/>
          </a:xfrm>
          <a:prstGeom prst="roundRect">
            <a:avLst>
              <a:gd name="adj" fmla="val 24242"/>
            </a:avLst>
          </a:prstGeom>
          <a:solidFill>
            <a:srgbClr val="141E35"/>
          </a:solidFill>
          <a:ln w="12700">
            <a:solidFill>
              <a:srgbClr val="7B2FF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349240" y="3319272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SVHN — 1/2/3 vs 0/7/5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Execution Backends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API — diverging implementation depth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5240">
            <a:solidFill>
              <a:srgbClr val="1E2D5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5760" y="1051560"/>
            <a:ext cx="7315200" cy="1965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3200400"/>
            <a:ext cx="2715768" cy="1737360"/>
          </a:xfrm>
          <a:prstGeom prst="roundRect">
            <a:avLst>
              <a:gd name="adj" fmla="val 4211"/>
            </a:avLst>
          </a:prstGeom>
          <a:solidFill>
            <a:srgbClr val="141E35"/>
          </a:solidFill>
          <a:ln w="12700">
            <a:solidFill>
              <a:srgbClr val="4499F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3291840"/>
            <a:ext cx="2532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49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3639312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3913632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Multi-thread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172968" y="3200400"/>
            <a:ext cx="2715768" cy="1737360"/>
          </a:xfrm>
          <a:prstGeom prst="roundRect">
            <a:avLst>
              <a:gd name="adj" fmla="val 4211"/>
            </a:avLst>
          </a:prstGeom>
          <a:solidFill>
            <a:srgbClr val="141E35"/>
          </a:solidFill>
          <a:ln w="12700">
            <a:solidFill>
              <a:srgbClr val="9966F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264408" y="3291840"/>
            <a:ext cx="2532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9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264408" y="3639312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GPU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264408" y="3913632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PennyLane+PyTorch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80176" y="3200400"/>
            <a:ext cx="2715768" cy="1737360"/>
          </a:xfrm>
          <a:prstGeom prst="roundRect">
            <a:avLst>
              <a:gd name="adj" fmla="val 4211"/>
            </a:avLst>
          </a:prstGeom>
          <a:solidFill>
            <a:srgbClr val="141E35"/>
          </a:solidFill>
          <a:ln w="12700">
            <a:solidFill>
              <a:srgbClr val="00FF8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071616" y="3291840"/>
            <a:ext cx="2532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cuda_states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071616" y="3639312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CUDA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071616" y="3913632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DLPack + RawKernel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CUDA Kernel — Output-Stationary Design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thread → 1 Gram element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5240">
            <a:solidFill>
              <a:srgbClr val="1E2D5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320" y="1005840"/>
            <a:ext cx="8595360" cy="1783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2926080"/>
            <a:ext cx="8595360" cy="1965960"/>
          </a:xfrm>
          <a:prstGeom prst="roundRect">
            <a:avLst>
              <a:gd name="adj" fmla="val 3721"/>
            </a:avLst>
          </a:prstGeom>
          <a:solidFill>
            <a:srgbClr val="141E35"/>
          </a:solidFill>
          <a:ln w="12700">
            <a:solidFill>
              <a:srgbClr val="1E2D5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29992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product per thread: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32735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 =  Σₖ aₖ b̄ₖ  =  Σₖ(aᵣbᵣ + aᵢbᵢ)  +  i · Σₖ(aᵢbᵣ − aᵣbᵢ)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36758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C[i,j]  =  Re(S)²  +  Im(S)²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7200" y="40965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double2 registers · no shared memory · output-stationary accumulation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Stream Synchronization Bug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Cross-stream write → AUC = 0.5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5240">
            <a:solidFill>
              <a:srgbClr val="1E2D5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320" y="1005840"/>
            <a:ext cx="8595360" cy="1828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301752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41E35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65760" y="309067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~0.50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365760" y="36758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before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91840" y="301752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41E35"/>
          </a:solidFill>
          <a:ln w="12700">
            <a:solidFill>
              <a:srgbClr val="00FF8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91840" y="309067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0.993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3291840" y="36758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after fix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217920" y="301752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41E35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217920" y="309067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 / 4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6217920" y="36758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tested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5760" y="4160520"/>
            <a:ext cx="8412480" cy="731520"/>
          </a:xfrm>
          <a:prstGeom prst="roundRect">
            <a:avLst>
              <a:gd name="adj" fmla="val 10000"/>
            </a:avLst>
          </a:prstGeom>
          <a:solidFill>
            <a:srgbClr val="141E35"/>
          </a:solidFill>
          <a:ln w="12700">
            <a:solidFill>
              <a:srgbClr val="00FF8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02920" y="42245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normalization + NaN/Inf repair + K_cp write — all on the same CuPy stream as the RawKernel launch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Safety &amp; Kernel Normalization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semantics across all backends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5240">
            <a:solidFill>
              <a:srgbClr val="1E2D5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320" y="1005840"/>
            <a:ext cx="8595360" cy="1691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2880360"/>
            <a:ext cx="2084832" cy="1234440"/>
          </a:xfrm>
          <a:prstGeom prst="roundRect">
            <a:avLst>
              <a:gd name="adj" fmla="val 5926"/>
            </a:avLst>
          </a:prstGeom>
          <a:solidFill>
            <a:srgbClr val="141E35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20040" y="297180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float64 @Q=16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20040" y="3319272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overflow on 65k-dim states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450592" y="2880360"/>
            <a:ext cx="2084832" cy="1234440"/>
          </a:xfrm>
          <a:prstGeom prst="roundRect">
            <a:avLst>
              <a:gd name="adj" fmla="val 5926"/>
            </a:avLst>
          </a:prstGeom>
          <a:solidFill>
            <a:srgbClr val="141E35"/>
          </a:solidFill>
          <a:ln w="12700">
            <a:solidFill>
              <a:srgbClr val="7B2FF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496312" y="297180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Renormalization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496312" y="3319272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norms enforced pre-overlap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26864" y="2880360"/>
            <a:ext cx="2084832" cy="1234440"/>
          </a:xfrm>
          <a:prstGeom prst="roundRect">
            <a:avLst>
              <a:gd name="adj" fmla="val 5926"/>
            </a:avLst>
          </a:prstGeom>
          <a:solidFill>
            <a:srgbClr val="141E35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672584" y="297180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NaN/Inf repair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672584" y="3319272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Block-by-block detection &amp; patch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803136" y="2880360"/>
            <a:ext cx="2084832" cy="1234440"/>
          </a:xfrm>
          <a:prstGeom prst="roundRect">
            <a:avLst>
              <a:gd name="adj" fmla="val 5926"/>
            </a:avLst>
          </a:prstGeom>
          <a:solidFill>
            <a:srgbClr val="141E35"/>
          </a:solidFill>
          <a:ln w="12700">
            <a:solidFill>
              <a:srgbClr val="00FF8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848856" y="297180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DLPack bridge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848856" y="3319272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CPU copies: Torch → CuPy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74320" y="4206240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141E35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11480" y="42793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K̂(X,Y)ᵢⱼ = K(X,Y)ᵢⱼ / √[ K(X,X)ᵢᵢ · K(Y,Y)ⱼⱼ ]   — applied uniformly: numpy / torch / cuda_states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Scalability: GPU vs CPU at Q = 16 Qubits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 complexity — GPU masks it, CPU collapses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5240">
            <a:solidFill>
              <a:srgbClr val="1E2D5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320" y="1005840"/>
            <a:ext cx="6400800" cy="1965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766560" y="987552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41E35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766560" y="106070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2.5×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6766560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N=10k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766560" y="2066544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41E35"/>
          </a:solidFill>
          <a:ln w="12700">
            <a:solidFill>
              <a:srgbClr val="00FF8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766560" y="213969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4.8×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6766560" y="27249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N=30k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766560" y="3145536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41E35"/>
          </a:solidFill>
          <a:ln w="12700">
            <a:solidFill>
              <a:srgbClr val="7B2FF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766560" y="321868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29.3 GB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6766560" y="38039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VRAM</a:t>
            </a:r>
            <a:endParaRPr lang="en-US" sz="10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320" y="3063240"/>
            <a:ext cx="8595360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Results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 across datasets, difficulties, backends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5240">
            <a:solidFill>
              <a:srgbClr val="1E2D5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320" y="1005840"/>
            <a:ext cx="8595360" cy="1828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2971800"/>
            <a:ext cx="2834640" cy="1280160"/>
          </a:xfrm>
          <a:prstGeom prst="roundRect">
            <a:avLst>
              <a:gd name="adj" fmla="val 5714"/>
            </a:avLst>
          </a:prstGeom>
          <a:solidFill>
            <a:srgbClr val="141E35"/>
          </a:solidFill>
          <a:ln w="12700">
            <a:solidFill>
              <a:srgbClr val="00FF8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65760" y="30632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Fashion-MNIST ✓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65760" y="34290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≈ Classical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up to 0.98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0" y="2971800"/>
            <a:ext cx="2834640" cy="1280160"/>
          </a:xfrm>
          <a:prstGeom prst="roundRect">
            <a:avLst>
              <a:gd name="adj" fmla="val 5714"/>
            </a:avLst>
          </a:prstGeom>
          <a:solidFill>
            <a:srgbClr val="141E35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91840" y="30632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CIFAR-10 ⚠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291840" y="34290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stays ahead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viable on Easy/Med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0" y="2971800"/>
            <a:ext cx="2834640" cy="1280160"/>
          </a:xfrm>
          <a:prstGeom prst="roundRect">
            <a:avLst>
              <a:gd name="adj" fmla="val 5714"/>
            </a:avLst>
          </a:prstGeom>
          <a:solidFill>
            <a:srgbClr val="141E35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217920" y="30632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SVHN ✗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217920" y="34290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fails (AUC ~0.5)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collapse confirmed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Collapse — Barren Plateau Analog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concentration in high-dimensional Hilbert space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5240">
            <a:solidFill>
              <a:srgbClr val="1E2D5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320" y="1005840"/>
            <a:ext cx="8595360" cy="1828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2971800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141E35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20040" y="3035808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std(K) ~ 10⁻⁴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20040" y="340156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near-constant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450592" y="2971800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141E35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496312" y="3035808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class_gap ≈ 0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496312" y="340156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separability signal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26864" y="2971800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141E35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672584" y="3035808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support_frac = 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672584" y="340156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points are SVs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803136" y="2971800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141E35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848856" y="3035808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0.47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848856" y="340156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Random-level decision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74320" y="3950208"/>
            <a:ext cx="8595360" cy="886968"/>
          </a:xfrm>
          <a:prstGeom prst="roundRect">
            <a:avLst>
              <a:gd name="adj" fmla="val 8247"/>
            </a:avLst>
          </a:prstGeom>
          <a:solidFill>
            <a:srgbClr val="141E35"/>
          </a:solidFill>
          <a:ln w="12700">
            <a:solidFill>
              <a:srgbClr val="1E2D5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11480" y="4023360"/>
            <a:ext cx="20574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Grayscale+PCA → info loss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2560320" y="4023360"/>
            <a:ext cx="20574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Generic RYRZ ansatz (not image-aware)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709160" y="4023360"/>
            <a:ext cx="20574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Depth ↑ → overlap concentration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858000" y="4023360"/>
            <a:ext cx="20574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Global fidelity limits on complex data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5240">
            <a:solidFill>
              <a:srgbClr val="1E2D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5029200" cy="3931920"/>
          </a:xfrm>
          <a:prstGeom prst="roundRect">
            <a:avLst>
              <a:gd name="adj" fmla="val 1860"/>
            </a:avLst>
          </a:prstGeom>
          <a:solidFill>
            <a:srgbClr val="141E35"/>
          </a:solidFill>
          <a:ln w="12700">
            <a:solidFill>
              <a:srgbClr val="00FF8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9875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35331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Custom CUDA backend — double2 precision, output-stationary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18288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DLPack: zero CPU-copy Torch → CuPy bridge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230428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Stream sync bug identified &amp; fixed (AUC 0.5 → 0.993)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77977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4.8× speedup at N=30k vs. CPU (Q=16)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325526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Strict cross-normalization across all backends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373075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Fashion-MNIST: quantum competitive with classical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0" y="914400"/>
            <a:ext cx="3383280" cy="3931920"/>
          </a:xfrm>
          <a:prstGeom prst="roundRect">
            <a:avLst>
              <a:gd name="adj" fmla="val 2162"/>
            </a:avLst>
          </a:prstGeom>
          <a:solidFill>
            <a:srgbClr val="141E35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96128" y="98755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96128" y="138988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Local / projected kernels (avoid concentration)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596128" y="198424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Image-aware ansatzes (convolutional QSVM)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596128" y="257860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Multi-GPU / MPI Gram distribution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596128" y="317296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Native GPU SVM solver (remove last CPU bottleneck)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 resolves cost — the next bottleneck is kernel expressivity and ansatz design.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Kernel SVM — CUDA Acceleration</dc:title>
  <dc:subject>PptxGenJS Presentation</dc:subject>
  <dc:creator>Dylan Fouepe</dc:creator>
  <cp:lastModifiedBy>Dylan Fouepe</cp:lastModifiedBy>
  <cp:revision>1</cp:revision>
  <dcterms:created xsi:type="dcterms:W3CDTF">2026-06-14T21:11:30Z</dcterms:created>
  <dcterms:modified xsi:type="dcterms:W3CDTF">2026-06-14T21:11:30Z</dcterms:modified>
</cp:coreProperties>
</file>